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4"/>
  </p:sldMasterIdLst>
  <p:notesMasterIdLst>
    <p:notesMasterId r:id="rId8"/>
  </p:notesMasterIdLst>
  <p:sldIdLst>
    <p:sldId id="256" r:id="rId7"/>
    <p:sldId id="257" r:id="rId6"/>
    <p:sldId id="258" r:id="rId5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Josefin Sans" pitchFamily="2" charset="77"/>
      <p:regular r:id="rId13"/>
      <p:bold r:id="rId14"/>
    </p:embeddedFont>
    <p:embeddedFont>
      <p:font typeface="Poppins" pitchFamily="2" charset="77"/>
      <p:regular r:id="rId15"/>
      <p:bold r:id="rId16"/>
      <p:italic r:id="rId17"/>
      <p:boldItalic r:id="rId18"/>
    </p:embeddedFont>
    <p:embeddedFont>
      <p:font typeface="Tahoma" panose="020B0604030504040204" pitchFamily="34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C9C7C7"/>
    <a:srgbClr val="92D050"/>
    <a:srgbClr val="CEE2EE"/>
    <a:srgbClr val="CDE2EE"/>
    <a:srgbClr val="D7E2C3"/>
    <a:srgbClr val="D7E3C3"/>
    <a:srgbClr val="63A3C8"/>
    <a:srgbClr val="62A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6" autoAdjust="0"/>
    <p:restoredTop sz="88482" autoAdjust="0"/>
  </p:normalViewPr>
  <p:slideViewPr>
    <p:cSldViewPr snapToGrid="0">
      <p:cViewPr varScale="1">
        <p:scale>
          <a:sx n="114" d="100"/>
          <a:sy n="114" d="100"/>
        </p:scale>
        <p:origin x="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0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A4C22A09-8C88-7B41-A1E4-3E4536C7596B}" type="datetimeFigureOut">
              <a:rPr lang="en-GB" smtClean="0"/>
              <a:pPr/>
              <a:t>12/06/2026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EF44B549-58DC-5D4A-8B1D-E4CFD6F2EF1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90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022380" y="1713229"/>
            <a:ext cx="6631238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CA4524-3362-6C74-6822-8FD52A0D3747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758C99-8D53-DB71-9BF9-9D35468185C1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424D05-9310-D265-FB75-02DF6B912A21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669D9E7-6120-DC14-01C1-FB244F19C363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1345B8-CCC4-CCCB-BB11-CA45BDAE567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17CE8FB-FF34-4F0F-2CA8-029541D16A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8F667D2-0C33-01FD-E2C6-D4F879DAB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6EA3EB-0638-F810-AE83-950F076F79FA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C179283-C04C-3A63-1949-3934BB9C0EA4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88B438-54B2-1258-C65F-2344B13809F0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343D5F-7787-DBD3-758A-3AE5111882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24" y="7576"/>
            <a:ext cx="4480277" cy="1564541"/>
          </a:xfrm>
          <a:prstGeom prst="rect">
            <a:avLst/>
          </a:prstGeom>
        </p:spPr>
      </p:pic>
      <p:pic>
        <p:nvPicPr>
          <p:cNvPr id="14" name="Picture Placeholder 2">
            <a:extLst>
              <a:ext uri="{FF2B5EF4-FFF2-40B4-BE49-F238E27FC236}">
                <a16:creationId xmlns:a16="http://schemas.microsoft.com/office/drawing/2014/main" id="{2A225D15-6B91-4AEF-B7E2-9703AF3B02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6336703" y="1759724"/>
            <a:ext cx="4842241" cy="3338551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23469C-564F-2F8F-4479-8DE1654F5832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FBE98FE-2F1E-30D4-3B9E-64B9D88F6619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D1C96D-9578-75D3-7DF4-CD35BB587D63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F958875-FB7F-13B5-5D4E-2573919AA8F5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D974150-569F-EB98-7EC4-9650D0D58B01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0036E0A-7354-4758-0FE1-7DD7C673A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98366D1-24BF-A355-2CEA-53ECA25779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D295265-6CF1-0F45-45B7-C50E07E70D87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FC6A056D-D3F3-9ED0-3F2C-08466B50B730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8ABE203-7197-C44B-7E6F-E4B4CAB6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F1F15BC3-E631-B14B-9FFB-6B8007EEF76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E82175A-75A0-6ED8-E9C2-42F9FA6B8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73075" y="243277"/>
            <a:ext cx="4594548" cy="51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4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Title &amp; Title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FB37EECA-FDCC-B8BC-52C4-6F35B68C89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488" y="1759711"/>
            <a:ext cx="4098792" cy="3338551"/>
          </a:xfrm>
        </p:spPr>
        <p:txBody>
          <a:bodyPr/>
          <a:lstStyle>
            <a:lvl1pPr marL="0" indent="0">
              <a:buNone/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endParaRPr lang="en-GB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E8BF11-A484-A9FA-9D3E-B29309D97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C1AE5A-0813-E514-4B1E-05238ED1EB5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Placeholder 2">
            <a:extLst>
              <a:ext uri="{FF2B5EF4-FFF2-40B4-BE49-F238E27FC236}">
                <a16:creationId xmlns:a16="http://schemas.microsoft.com/office/drawing/2014/main" id="{BDEBBB2F-6829-4ED0-8438-A4D67366B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6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Image or 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545" y="2782394"/>
            <a:ext cx="2643827" cy="3560349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C4D28D-302A-26BA-A2DB-2ED78B1DDBA9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727E6F-D9E6-D89B-FD17-9EF8DC236E54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47B544-F4D8-FA3A-B960-5345C594144B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2990AAF-58DF-A5E7-4530-BE3FD939CD4D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4BB8482-E447-27C1-F295-2F377E9186A9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1E4DB08-E780-F2CD-0803-F848A77E2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AB98B18-8B02-E861-909A-E319F7E881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529DA1C-DD94-5DA5-831A-15608B1DEC62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49D9F15-2E63-7098-E5D1-70D1341264D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FA5EAC6-50FB-E17C-A15B-363AAC30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BD89B6C5-D0AE-6E41-AC4E-CC6E8A7BFC8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3557DE-2C9C-5248-B46F-B3B0A1EE3F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698901-BD64-22D3-DAD3-E022F252F196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7D2564BD-D748-4EFB-B423-4FF7FEACE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38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4656878" y="2186030"/>
            <a:ext cx="2473729" cy="3769921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3339959" y="3936236"/>
            <a:ext cx="1163325" cy="118482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EF135D-E709-0B33-F50E-B56849F32CA2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27403A-BB0C-724A-CD4C-E53B26B50094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E71DCE-8267-0711-938C-A07082C36411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003118E-799B-A910-5A92-06E74218C41B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CB14AF-9264-785E-8616-D624F74354F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3C5DB57-E54B-1632-557E-01CED1F3ED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8BD1A46-349A-3E5E-2725-18437E75F3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A75B2BB-60FD-82B0-97D6-88D8A5B07B62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7CF19CB1-D759-2037-5BA6-3F7DDA33A316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0D9C0B8-825D-67EC-EE53-12E563BA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98CD55CA-889C-9E4F-81F2-8A48C34EE7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8DD221B-EFBD-5E56-1081-5587C9341E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6179F6-818F-EBCB-6548-453EEA29DE5A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148772D9-F4EA-4F96-9E90-99A1D42673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2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7707086" y="981711"/>
            <a:ext cx="3817257" cy="5876289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2D6951-252E-44B5-ADFD-55811AEBAF88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D34E1D-C8AC-59BD-B32B-FE75A94C221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853A50-31CC-EF47-A649-D8ADC49AA0BA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DA4334D-5735-D4C6-4CC4-71F7C2973A84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E6108EF-193F-3528-9CA6-A21534DFA4A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FE64040-707E-9396-1596-4818B56DB5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3450A5E-39A1-3815-AD47-D51A9BC15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D737B1-6425-AA01-F84A-020D2B57A959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318159CD-A63B-6D06-021D-4E8BF223374B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96CBAB-B885-A013-D00D-0C4167BB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20372125-2273-1242-9B3B-9E72C8374A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B4224F-C8EC-A2AF-7EF5-4FD7D6362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6A11A8-36B4-5DD6-20B6-C47A10BD3025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8867660E-72A5-4554-BA51-8E59A65034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5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8551327" y="1143000"/>
            <a:ext cx="2861745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215FDE7-DB53-6B12-7CCF-DDAC1DE42A43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1AE86E-E3AC-1E18-C397-2F1E69A44E68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BA9EEB-186C-ED6C-B4F8-D826B5579D7C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C90AFEC-74BB-9EE7-C8DB-3FA09FE396F7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142A5A-6B74-EF3C-0CB8-CED010FF4837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201F8C3-FB96-0738-B434-E6BFE03F3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4F6BA14-C141-4AA2-AC27-A79DCD8696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2CE669F-A440-096E-E2E8-8FD1B24D81B2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5B96E1E5-0FE8-9A3A-6CE5-80D24B1B8101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7906907-BB0B-3898-8CF8-0C9599FB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170C5C1-6283-F443-8970-A23F5115D2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72A23F34-8B5C-3709-04E8-0DB0D84DD9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5790" y="1143000"/>
            <a:ext cx="2861745" cy="45720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570941-AE16-D057-8397-E13C4BA3E5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1060E-8DE8-2F5F-89CF-0DDE8DCC224F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4C412E66-1FEE-4840-AFC8-650CB427E8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3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mall Image One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424404" y="1973942"/>
            <a:ext cx="2920865" cy="4349957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9493423" y="1973943"/>
            <a:ext cx="2261796" cy="2902858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D1A54B-14EE-C694-E46B-B33CB126C23D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5D45A20-EA54-C2BF-3C23-94B45E1EBE81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3D7C5B-6FEF-6FA3-6C0D-AEE0E18C6A47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63610C2-DB56-6CAB-CFFE-DE99CD95E0E4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7A8C1-01B5-FB6A-7288-D2F9C849B615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A838E6C-B935-E0BE-185D-0BCA37948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970E8F4-EE13-CD6B-445D-D62EA5E17B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BDE4215-3FFA-F43E-E807-7E810C506139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0F6C6733-D1CE-6051-A20F-9AEB9A35EF57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48197DC-C14C-0F10-1E3C-A3A07620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063DD550-9A05-774A-981B-0F3E742FF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B7D6E8-310B-B1CD-127C-52AB1974ED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BB5C65-2A1A-C6BE-DF0B-0C916E61E54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4FA5D868-9E6A-42CE-B6D5-3E12580ACA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66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2162628" y="1988457"/>
            <a:ext cx="3367316" cy="4349957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D5DA1E-2AB3-F761-3C65-78B6686850FD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90EDD7-0D04-C69D-5838-264516EACE36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472E80-723B-CAA8-96E5-0B42DC74D2EE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41DB646-F2A8-3672-2F7E-D1821C19BDDC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164D3B5-3219-EA53-1155-506451E6086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A7F25B-7887-A3CA-0D9C-0FA3017393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195661C-1C21-7F1D-1C8B-BD46FB05BE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15C64F6-20D0-3D45-2B75-4C161A8DEBFF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CBDBB5F-C5CC-025D-7231-9CD5532FA9B1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346F2C0-41C1-E222-5A98-9CAF6D1A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79C5AEB9-EE74-C244-A1ED-F5A9961EEC4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DB6A206-3B87-81A3-54CE-B1A84DBFA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AEC4F3-9E6D-B24A-0EF1-23AA0354080A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5" name="Picture Placeholder 2">
            <a:extLst>
              <a:ext uri="{FF2B5EF4-FFF2-40B4-BE49-F238E27FC236}">
                <a16:creationId xmlns:a16="http://schemas.microsoft.com/office/drawing/2014/main" id="{D5E4D51D-7DEF-459D-9E9A-E429C846F6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9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1"/>
          </p:nvPr>
        </p:nvSpPr>
        <p:spPr>
          <a:xfrm>
            <a:off x="9865226" y="1948713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7196112" y="4501013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7196112" y="1956441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4573768" y="4487489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4573768" y="1942917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6"/>
          </p:nvPr>
        </p:nvSpPr>
        <p:spPr>
          <a:xfrm>
            <a:off x="1920244" y="4487489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7"/>
          </p:nvPr>
        </p:nvSpPr>
        <p:spPr>
          <a:xfrm>
            <a:off x="1920244" y="1942917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9865226" y="4493285"/>
            <a:ext cx="1212084" cy="1212084"/>
          </a:xfrm>
          <a:custGeom>
            <a:avLst/>
            <a:gdLst>
              <a:gd name="connsiteX0" fmla="*/ 606042 w 1212084"/>
              <a:gd name="connsiteY0" fmla="*/ 0 h 1212084"/>
              <a:gd name="connsiteX1" fmla="*/ 1212084 w 1212084"/>
              <a:gd name="connsiteY1" fmla="*/ 606042 h 1212084"/>
              <a:gd name="connsiteX2" fmla="*/ 606042 w 1212084"/>
              <a:gd name="connsiteY2" fmla="*/ 1212084 h 1212084"/>
              <a:gd name="connsiteX3" fmla="*/ 0 w 1212084"/>
              <a:gd name="connsiteY3" fmla="*/ 606042 h 1212084"/>
              <a:gd name="connsiteX4" fmla="*/ 606042 w 1212084"/>
              <a:gd name="connsiteY4" fmla="*/ 0 h 121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084" h="1212084">
                <a:moveTo>
                  <a:pt x="606042" y="0"/>
                </a:moveTo>
                <a:cubicBezTo>
                  <a:pt x="940750" y="0"/>
                  <a:pt x="1212084" y="271334"/>
                  <a:pt x="1212084" y="606042"/>
                </a:cubicBezTo>
                <a:cubicBezTo>
                  <a:pt x="1212084" y="940750"/>
                  <a:pt x="940750" y="1212084"/>
                  <a:pt x="606042" y="1212084"/>
                </a:cubicBezTo>
                <a:cubicBezTo>
                  <a:pt x="271334" y="1212084"/>
                  <a:pt x="0" y="940750"/>
                  <a:pt x="0" y="606042"/>
                </a:cubicBezTo>
                <a:cubicBezTo>
                  <a:pt x="0" y="271334"/>
                  <a:pt x="271334" y="0"/>
                  <a:pt x="606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EDB1F18-98D8-CCA8-130D-AF958433630E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404061-A847-31A4-BBA8-5554E64849FF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C5315E-43D3-11D3-7F15-38DB8CFD904B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D213DF0-1CF9-2D24-D88A-0375CE43767C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F950BC-639D-995A-373B-DADB0C6BC9F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43B1713-B0C7-AAB7-5505-FEA9907C9F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89F00DE-9B5D-ED5E-3690-F1307A55FC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9D87ABA-96AB-8369-E64D-3C963E5C6CA5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EEC0C5D-5A69-75C2-87EF-D68FB973DD91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43E620-43B1-94DC-C7E7-899999B9CDB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BF2DD64-99D0-2F4C-BA50-D234501302F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C27F2B-9C34-7CE4-2B67-E160CDB64C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CCB64-3725-B3BE-4752-DD730026D766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25" name="Picture Placeholder 2">
            <a:extLst>
              <a:ext uri="{FF2B5EF4-FFF2-40B4-BE49-F238E27FC236}">
                <a16:creationId xmlns:a16="http://schemas.microsoft.com/office/drawing/2014/main" id="{7FCC0ECC-4D80-4A54-A544-195D72EC57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929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816261" y="1041399"/>
            <a:ext cx="5503527" cy="2150507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4633704" y="3351579"/>
            <a:ext cx="2920865" cy="2629934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7732506" y="3351579"/>
            <a:ext cx="1665496" cy="2629934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B8F937B-FD1C-320B-0304-F511F19B4DBD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3D9BE5C-7057-EB10-5661-A0B94A29B703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84627C2-5B09-9560-F692-6BCBC60EDDCD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C852A-E7D4-FD46-DBEE-C317451F5212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B98C95-2CCF-A177-E321-D568F7697AD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B579F53-9348-C03F-05F2-5B2169574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331E32D-3918-33BE-CDCF-7B9EA42BE8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3E72E73-D20B-0D94-DB7F-FD5406BD8EDC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48FEF045-50F4-3095-7A9C-A4E24D5C9AB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DC298DE-99A6-646D-0127-A37BF8E941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AD5E45FB-CF5E-1941-93CD-F76CD2A0FC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8A3C9F-7B2D-8ACD-A788-B116EE785B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47CFFC-2A4E-1E2D-019F-1660D2E79825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7" name="Picture Placeholder 2">
            <a:extLst>
              <a:ext uri="{FF2B5EF4-FFF2-40B4-BE49-F238E27FC236}">
                <a16:creationId xmlns:a16="http://schemas.microsoft.com/office/drawing/2014/main" id="{CC0CDE24-D8E6-485D-8CF1-3EFFD993B2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5380464" y="3671216"/>
            <a:ext cx="3317833" cy="3186783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039428" y="1750473"/>
            <a:ext cx="1658869" cy="1708758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D3E6CD5-ED50-04F6-A3EA-A5D1E505345F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06EA15-6055-BE36-8875-4DA636C762B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D9960E-9B3D-50C2-8EEB-7E1289BB8E69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AA4D5AB-E56D-2322-4CA3-D9EB96B11BF1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6144124-DD39-CC1D-0F70-F8187B39058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F3D2EBA-26C8-6764-1128-6BE35F481A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0F39C10-25C3-C232-7785-51295B18A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95528A-1915-17CE-5DC2-E83974D175F3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167F3E87-5FC2-3BE9-E5E4-DE92F07B7D6E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1A66293-5B0F-6977-2720-12856ACF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637E64B6-DEFF-204E-9E3B-310930A6A10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297B610-2CE0-B88A-9A27-67251CE0AA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F2CCF8-E41E-C7DD-F643-925867EE396E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6" name="Picture Placeholder 2">
            <a:extLst>
              <a:ext uri="{FF2B5EF4-FFF2-40B4-BE49-F238E27FC236}">
                <a16:creationId xmlns:a16="http://schemas.microsoft.com/office/drawing/2014/main" id="{3BD7055A-1290-4C0A-91C8-6EA6092A5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49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310743" y="2044700"/>
            <a:ext cx="2902857" cy="48133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9695539" y="2044700"/>
            <a:ext cx="2191659" cy="2789866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7358740" y="4075391"/>
            <a:ext cx="2191659" cy="2789866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358740" y="2044700"/>
            <a:ext cx="2191659" cy="18669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9695538" y="4998357"/>
            <a:ext cx="2191659" cy="186690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D81E31C-6102-363B-196F-78A1C8036B33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8441BF-6350-CD62-29CD-14469AF918BE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28BE7F-2F0A-B20F-3B58-97A8B75A8F44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CFF326-28AA-470A-569C-DC0FBAC05654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078457-A2BD-6A2D-3A15-2EA260C69322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37655A9-0B4F-D956-101D-215A7C9515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398867B-426A-8C18-1D98-30145EFACE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09A97C0-E175-19C5-A605-268A00ABBCFB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9E753B81-57E4-6987-8795-3FF101095BA8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62697E-8A86-7EA5-7D4D-9008EC170A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C54700-7342-D26C-CCEF-58CF2C9F04A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8" name="Picture Placeholder 2">
            <a:extLst>
              <a:ext uri="{FF2B5EF4-FFF2-40B4-BE49-F238E27FC236}">
                <a16:creationId xmlns:a16="http://schemas.microsoft.com/office/drawing/2014/main" id="{F1700FEA-95E9-4C5A-B29A-7A5144E203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59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oll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62024" y="1321958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5E8C9F-7491-1218-59BA-1EC4652BE1AB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1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3DA834-83FE-447A-BD0E-6D9607A8A3E9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6DAC6C-B450-9C1D-5565-590BD0DC9F8E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F2B1424E-5BB2-B4F3-9B8E-4E16FCAE65BB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0D7F5D7-5AB9-2777-6621-81BAA8B8564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44FCD3D-C0E6-390C-689E-AA74230B7C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E959889-D26F-F1F0-DAED-357A2B527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12BDA71-D043-2EBE-1245-3594D768AEDE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D07DEE31-1DDD-6AAC-4E05-010ECEBFCF1B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C36AB8D-8C51-543E-EBD9-40C172402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873C13B9-BE13-C64B-86B3-C6A7147EE1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5FED606A-BAEE-8691-7731-286042D9CD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90186" y="1321958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22AC8BF7-C5D4-4130-272B-C69B7F1E8B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024" y="4054884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C783327-C613-66C2-CC10-A8D70802B4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90186" y="4054884"/>
            <a:ext cx="4263829" cy="2571440"/>
          </a:xfrm>
          <a:custGeom>
            <a:avLst/>
            <a:gdLst>
              <a:gd name="connsiteX0" fmla="*/ 0 w 6631238"/>
              <a:gd name="connsiteY0" fmla="*/ 0 h 4572000"/>
              <a:gd name="connsiteX1" fmla="*/ 6631238 w 6631238"/>
              <a:gd name="connsiteY1" fmla="*/ 0 h 4572000"/>
              <a:gd name="connsiteX2" fmla="*/ 6631238 w 6631238"/>
              <a:gd name="connsiteY2" fmla="*/ 4572000 h 4572000"/>
              <a:gd name="connsiteX3" fmla="*/ 0 w 6631238"/>
              <a:gd name="connsiteY3" fmla="*/ 457200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1238" h="4572000">
                <a:moveTo>
                  <a:pt x="0" y="0"/>
                </a:moveTo>
                <a:lnTo>
                  <a:pt x="6631238" y="0"/>
                </a:lnTo>
                <a:lnTo>
                  <a:pt x="6631238" y="4572000"/>
                </a:lnTo>
                <a:lnTo>
                  <a:pt x="0" y="4572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900" b="0" i="0">
                <a:latin typeface="Poppins" pitchFamily="2" charset="77"/>
                <a:cs typeface="Poppins" pitchFamily="2" charset="77"/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9459C3-5976-E0E1-CBE3-47927EFEE2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D8CC1-AA47-BB7C-3721-BE6AF6F10475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8" name="Picture Placeholder 2">
            <a:extLst>
              <a:ext uri="{FF2B5EF4-FFF2-40B4-BE49-F238E27FC236}">
                <a16:creationId xmlns:a16="http://schemas.microsoft.com/office/drawing/2014/main" id="{2A198B3D-4419-4CEB-AA8A-A211DDA5F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93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D463A1-D2BC-60F9-C275-F9957A468BBB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4AB829E-B7F6-44C6-F1BD-FF08780826D3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30E51EC-1787-3D2C-A3C9-5C13B94DBA43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AE24D81-D122-61A2-2FED-316E39FE32F6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2734509-EC4C-4F01-3FE3-6B7A18AFA92B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C2B2F08-3B53-A555-E9D2-6BA341CFD9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35059AE-A141-8D36-0F0D-E1ABFBCA4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97459C-66DC-0E48-172F-F395C140C985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95A1DDC-594D-7F38-EA74-B3B27D806403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234768D-8BCA-A7E2-D41F-78E4A504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b="0" i="0">
                <a:latin typeface="Poppins" pitchFamily="2" charset="77"/>
                <a:cs typeface="Poppins" pitchFamily="2" charset="77"/>
              </a:defRPr>
            </a:lvl1pPr>
          </a:lstStyle>
          <a:p>
            <a:fld id="{5383DC79-82AF-8844-A908-5B4A2C81957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68061E-6D18-66A8-C266-9856785E8F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171DC2-EAFE-BB97-2C2A-D88E24A210D2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4" name="Picture Placeholder 2">
            <a:extLst>
              <a:ext uri="{FF2B5EF4-FFF2-40B4-BE49-F238E27FC236}">
                <a16:creationId xmlns:a16="http://schemas.microsoft.com/office/drawing/2014/main" id="{6C7145E8-C7D2-4FFE-8DA9-19DCF3AB23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7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No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9B99F5-DE3E-82B7-20D2-AE11AD661E26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422F59-B83A-375C-A419-317A5F282BF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E7C896-F644-6D90-DC15-BC627B7B9418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7CB01EE-D209-135A-1ACF-083FFC413E30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3838A7-0CD0-9605-3E6B-15C43834CD48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25EF834-F74E-DF5F-B5CB-F7FA607A21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ED2A8C0-1837-6534-6364-87FAFB65F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D14968E-16F6-DF61-0D31-0169045495EA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BF4EE5A3-7389-9C58-0B6F-80666935CD7D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273A64-62E4-144B-44D7-8585BAA96A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AF227F-94DA-6B0F-0AEA-8B6645CFDD83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3" name="Picture Placeholder 2">
            <a:extLst>
              <a:ext uri="{FF2B5EF4-FFF2-40B4-BE49-F238E27FC236}">
                <a16:creationId xmlns:a16="http://schemas.microsoft.com/office/drawing/2014/main" id="{9A93F54D-C6C5-4AC8-AA1C-D7D9814348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36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G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422F59-B83A-375C-A419-317A5F282BF0}"/>
              </a:ext>
            </a:extLst>
          </p:cNvPr>
          <p:cNvCxnSpPr>
            <a:cxnSpLocks/>
          </p:cNvCxnSpPr>
          <p:nvPr userDrawn="1"/>
        </p:nvCxnSpPr>
        <p:spPr>
          <a:xfrm>
            <a:off x="424377" y="-29280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A7ADC11-6C29-7C29-FF4B-DACB9878D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51410"/>
            <a:ext cx="2352676" cy="821569"/>
          </a:xfrm>
          <a:prstGeom prst="rect">
            <a:avLst/>
          </a:prstGeom>
        </p:spPr>
      </p:pic>
      <p:pic>
        <p:nvPicPr>
          <p:cNvPr id="5" name="Picture Placeholder 2">
            <a:extLst>
              <a:ext uri="{FF2B5EF4-FFF2-40B4-BE49-F238E27FC236}">
                <a16:creationId xmlns:a16="http://schemas.microsoft.com/office/drawing/2014/main" id="{423F301E-3248-4826-911C-3F398D71F3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88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91E0201-3FE6-4959-992C-32D5666BA272}"/>
              </a:ext>
            </a:extLst>
          </p:cNvPr>
          <p:cNvCxnSpPr>
            <a:cxnSpLocks/>
          </p:cNvCxnSpPr>
          <p:nvPr userDrawn="1"/>
        </p:nvCxnSpPr>
        <p:spPr>
          <a:xfrm>
            <a:off x="424377" y="2385159"/>
            <a:ext cx="0" cy="9009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360AD6-498F-A834-ABDA-118D350A8B5A}"/>
              </a:ext>
            </a:extLst>
          </p:cNvPr>
          <p:cNvCxnSpPr>
            <a:cxnSpLocks/>
          </p:cNvCxnSpPr>
          <p:nvPr userDrawn="1"/>
        </p:nvCxnSpPr>
        <p:spPr>
          <a:xfrm>
            <a:off x="424377" y="5955951"/>
            <a:ext cx="0" cy="90204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08BFD79D-ACC9-1827-D297-C131D81D2023}"/>
              </a:ext>
            </a:extLst>
          </p:cNvPr>
          <p:cNvGrpSpPr/>
          <p:nvPr userDrawn="1"/>
        </p:nvGrpSpPr>
        <p:grpSpPr>
          <a:xfrm>
            <a:off x="195777" y="1321958"/>
            <a:ext cx="457200" cy="1595073"/>
            <a:chOff x="195777" y="2126834"/>
            <a:chExt cx="457200" cy="12307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FD2FA9D-2A5C-5482-FDB6-6A194D06DF66}"/>
                </a:ext>
              </a:extLst>
            </p:cNvPr>
            <p:cNvGrpSpPr/>
            <p:nvPr/>
          </p:nvGrpSpPr>
          <p:grpSpPr>
            <a:xfrm>
              <a:off x="195777" y="2126834"/>
              <a:ext cx="457200" cy="1228851"/>
              <a:chOff x="195777" y="1422844"/>
              <a:chExt cx="457200" cy="1932841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D7D59A4-0DF2-4F62-F3D8-97C1BD30F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9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6C6F615-290A-F676-E4B7-B3E8E5207E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777" y="1422844"/>
                <a:ext cx="0" cy="1932841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141258-D755-E343-399E-E6EF124CA1CE}"/>
                </a:ext>
              </a:extLst>
            </p:cNvPr>
            <p:cNvCxnSpPr/>
            <p:nvPr/>
          </p:nvCxnSpPr>
          <p:spPr>
            <a:xfrm>
              <a:off x="195777" y="3357563"/>
              <a:ext cx="4572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B4BE163-0BE4-06BB-7238-75FA91F12670}"/>
              </a:ext>
            </a:extLst>
          </p:cNvPr>
          <p:cNvSpPr/>
          <p:nvPr userDrawn="1"/>
        </p:nvSpPr>
        <p:spPr>
          <a:xfrm>
            <a:off x="343929" y="2335361"/>
            <a:ext cx="160896" cy="16089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012A0C-3454-1E72-481F-923C234A2A8F}"/>
              </a:ext>
            </a:extLst>
          </p:cNvPr>
          <p:cNvSpPr/>
          <p:nvPr userDrawn="1"/>
        </p:nvSpPr>
        <p:spPr>
          <a:xfrm>
            <a:off x="5181600" y="1543050"/>
            <a:ext cx="7010400" cy="37719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Poppins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6E877-B187-09A9-329E-1DA807691790}"/>
              </a:ext>
            </a:extLst>
          </p:cNvPr>
          <p:cNvSpPr/>
          <p:nvPr userDrawn="1"/>
        </p:nvSpPr>
        <p:spPr>
          <a:xfrm>
            <a:off x="1175084" y="4376231"/>
            <a:ext cx="15969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pt-smart-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tbk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@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goldenagri_sinarmas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@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SMARTSinarmasagri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Golden Agri-Resources</a:t>
            </a:r>
          </a:p>
        </p:txBody>
      </p:sp>
      <p:pic>
        <p:nvPicPr>
          <p:cNvPr id="13" name="Picture 1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96CF124-A5A8-3633-9CF9-43E9E7CC31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261" y="4456767"/>
            <a:ext cx="126000" cy="126000"/>
          </a:xfrm>
          <a:prstGeom prst="rect">
            <a:avLst/>
          </a:prstGeom>
        </p:spPr>
      </p:pic>
      <p:pic>
        <p:nvPicPr>
          <p:cNvPr id="14" name="Picture 13" descr="A picture containing graphics, drawing, shirt&#10;&#10;Description automatically generated">
            <a:extLst>
              <a:ext uri="{FF2B5EF4-FFF2-40B4-BE49-F238E27FC236}">
                <a16:creationId xmlns:a16="http://schemas.microsoft.com/office/drawing/2014/main" id="{C031063C-C33F-86EC-39FC-9288723120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4" y="4613313"/>
            <a:ext cx="126000" cy="126000"/>
          </a:xfrm>
          <a:prstGeom prst="rect">
            <a:avLst/>
          </a:prstGeom>
        </p:spPr>
      </p:pic>
      <p:pic>
        <p:nvPicPr>
          <p:cNvPr id="16" name="Picture 15" descr="A picture containing drawing&#10;&#10;Description automatically generated">
            <a:extLst>
              <a:ext uri="{FF2B5EF4-FFF2-40B4-BE49-F238E27FC236}">
                <a16:creationId xmlns:a16="http://schemas.microsoft.com/office/drawing/2014/main" id="{CFCFC8E7-CCC5-0804-2A85-51E02073D8A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4" y="4939152"/>
            <a:ext cx="126000" cy="126000"/>
          </a:xfrm>
          <a:prstGeom prst="rect">
            <a:avLst/>
          </a:prstGeom>
        </p:spPr>
      </p:pic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EDEC74C3-788D-B760-3B7C-A4C370B3524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84" y="4776232"/>
            <a:ext cx="126000" cy="126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2D50470-D77A-03BA-DADD-3CADCE3D5B2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95" y="2722660"/>
            <a:ext cx="4308244" cy="15044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3C8E2F-A7AF-D7CF-04CF-43A9F4E17F5A}"/>
              </a:ext>
            </a:extLst>
          </p:cNvPr>
          <p:cNvSpPr txBox="1"/>
          <p:nvPr userDrawn="1"/>
        </p:nvSpPr>
        <p:spPr>
          <a:xfrm rot="16200000">
            <a:off x="-1020990" y="4522678"/>
            <a:ext cx="2890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spc="0" dirty="0">
                <a:latin typeface="Poppins" pitchFamily="2" charset="77"/>
                <a:ea typeface="Inter Medium" panose="02000503000000020004" pitchFamily="2" charset="0"/>
                <a:cs typeface="Poppins" pitchFamily="2" charset="77"/>
              </a:rPr>
              <a:t>  Sinar Mas Agribusiness and Food</a:t>
            </a:r>
          </a:p>
        </p:txBody>
      </p:sp>
      <p:pic>
        <p:nvPicPr>
          <p:cNvPr id="18" name="Picture Placeholder 2">
            <a:extLst>
              <a:ext uri="{FF2B5EF4-FFF2-40B4-BE49-F238E27FC236}">
                <a16:creationId xmlns:a16="http://schemas.microsoft.com/office/drawing/2014/main" id="{A4FCCE29-6041-4931-AE98-5A112C3313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34" b="15525"/>
          <a:stretch/>
        </p:blipFill>
        <p:spPr>
          <a:xfrm>
            <a:off x="11464707" y="6458240"/>
            <a:ext cx="727293" cy="38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931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fld id="{A9A30CEF-4F37-2B4A-A83D-9B71D0DFA944}" type="datetime1">
              <a:rPr lang="en-GB" smtClean="0"/>
              <a:pPr/>
              <a:t>12/06/2026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Poppins" pitchFamily="2" charset="77"/>
              </a:defRPr>
            </a:lvl1pPr>
          </a:lstStyle>
          <a:p>
            <a:fld id="{769B4F97-C105-A04B-A1FA-A12BCC87989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643BA-942C-7D50-5D61-2EE4CA3E1274}"/>
              </a:ext>
            </a:extLst>
          </p:cNvPr>
          <p:cNvSpPr txBox="1"/>
          <p:nvPr userDrawn="1"/>
        </p:nvSpPr>
        <p:spPr>
          <a:xfrm>
            <a:off x="-1367167" y="0"/>
            <a:ext cx="10887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00" b="0" i="0" noProof="0" dirty="0">
                <a:latin typeface="Poppins" pitchFamily="2" charset="77"/>
              </a:rPr>
              <a:t>Primary colours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9D836-6621-7770-2333-690C9ACD90DB}"/>
              </a:ext>
            </a:extLst>
          </p:cNvPr>
          <p:cNvSpPr txBox="1"/>
          <p:nvPr userDrawn="1"/>
        </p:nvSpPr>
        <p:spPr>
          <a:xfrm>
            <a:off x="-1368656" y="1101469"/>
            <a:ext cx="12666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GB" sz="900" b="0" i="0" noProof="0" dirty="0">
                <a:latin typeface="Poppins" pitchFamily="2" charset="77"/>
              </a:rPr>
              <a:t>Secondary colours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B5ADC-ADF3-1926-3ABC-B06FBDB3D8E4}"/>
              </a:ext>
            </a:extLst>
          </p:cNvPr>
          <p:cNvSpPr/>
          <p:nvPr userDrawn="1"/>
        </p:nvSpPr>
        <p:spPr>
          <a:xfrm>
            <a:off x="-1295400" y="638170"/>
            <a:ext cx="374904" cy="320040"/>
          </a:xfrm>
          <a:prstGeom prst="rect">
            <a:avLst/>
          </a:prstGeom>
          <a:solidFill>
            <a:srgbClr val="B6B4BA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D48CA1-AEF0-63EA-B5C6-99E4B0FBF713}"/>
              </a:ext>
            </a:extLst>
          </p:cNvPr>
          <p:cNvSpPr/>
          <p:nvPr userDrawn="1"/>
        </p:nvSpPr>
        <p:spPr>
          <a:xfrm>
            <a:off x="-1296359" y="256232"/>
            <a:ext cx="374904" cy="320040"/>
          </a:xfrm>
          <a:prstGeom prst="rect">
            <a:avLst/>
          </a:prstGeom>
          <a:solidFill>
            <a:srgbClr val="DE0E13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6A702-40E2-C5E3-8A44-904119E3DACA}"/>
              </a:ext>
            </a:extLst>
          </p:cNvPr>
          <p:cNvSpPr/>
          <p:nvPr userDrawn="1"/>
        </p:nvSpPr>
        <p:spPr>
          <a:xfrm>
            <a:off x="-862089" y="256232"/>
            <a:ext cx="374904" cy="320040"/>
          </a:xfrm>
          <a:prstGeom prst="rect">
            <a:avLst/>
          </a:prstGeom>
          <a:solidFill>
            <a:srgbClr val="2E2928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D684-B687-8701-4139-564E6D9CD80B}"/>
              </a:ext>
            </a:extLst>
          </p:cNvPr>
          <p:cNvSpPr/>
          <p:nvPr userDrawn="1"/>
        </p:nvSpPr>
        <p:spPr>
          <a:xfrm>
            <a:off x="-862089" y="638170"/>
            <a:ext cx="374904" cy="32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latin typeface="Poppins" pitchFamily="2" charset="77"/>
              </a:rPr>
              <a:t>0</a:t>
            </a:r>
            <a:endParaRPr lang="en-GB" b="0" i="0" dirty="0">
              <a:latin typeface="Poppins" pitchFamily="2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DD2606-2AC0-3D91-105D-5EC8D8B75B6D}"/>
              </a:ext>
            </a:extLst>
          </p:cNvPr>
          <p:cNvSpPr/>
          <p:nvPr userDrawn="1"/>
        </p:nvSpPr>
        <p:spPr>
          <a:xfrm>
            <a:off x="-1289501" y="1737360"/>
            <a:ext cx="374904" cy="320040"/>
          </a:xfrm>
          <a:prstGeom prst="rect">
            <a:avLst/>
          </a:prstGeom>
          <a:solidFill>
            <a:srgbClr val="ADD5F7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419DB8-2831-F573-DD15-D9715D2C32E4}"/>
              </a:ext>
            </a:extLst>
          </p:cNvPr>
          <p:cNvSpPr/>
          <p:nvPr userDrawn="1"/>
        </p:nvSpPr>
        <p:spPr>
          <a:xfrm>
            <a:off x="-1290460" y="1355422"/>
            <a:ext cx="374904" cy="320040"/>
          </a:xfrm>
          <a:prstGeom prst="rect">
            <a:avLst/>
          </a:prstGeom>
          <a:solidFill>
            <a:srgbClr val="FCDE2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842CD0-39B7-1AC9-3ADC-AFC4D0465D6E}"/>
              </a:ext>
            </a:extLst>
          </p:cNvPr>
          <p:cNvSpPr/>
          <p:nvPr userDrawn="1"/>
        </p:nvSpPr>
        <p:spPr>
          <a:xfrm>
            <a:off x="-856190" y="1355422"/>
            <a:ext cx="374904" cy="320040"/>
          </a:xfrm>
          <a:prstGeom prst="rect">
            <a:avLst/>
          </a:prstGeom>
          <a:solidFill>
            <a:srgbClr val="EBAD0C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153D3D-44A8-6602-DE18-ACC5752D64FF}"/>
              </a:ext>
            </a:extLst>
          </p:cNvPr>
          <p:cNvSpPr/>
          <p:nvPr userDrawn="1"/>
        </p:nvSpPr>
        <p:spPr>
          <a:xfrm>
            <a:off x="-856190" y="1737360"/>
            <a:ext cx="374904" cy="320040"/>
          </a:xfrm>
          <a:prstGeom prst="rect">
            <a:avLst/>
          </a:prstGeom>
          <a:solidFill>
            <a:srgbClr val="00A5A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5C36CF-CFB8-341A-DB57-F699E56E0B91}"/>
              </a:ext>
            </a:extLst>
          </p:cNvPr>
          <p:cNvSpPr/>
          <p:nvPr userDrawn="1"/>
        </p:nvSpPr>
        <p:spPr>
          <a:xfrm>
            <a:off x="-1289247" y="2133600"/>
            <a:ext cx="374904" cy="320040"/>
          </a:xfrm>
          <a:prstGeom prst="rect">
            <a:avLst/>
          </a:prstGeom>
          <a:solidFill>
            <a:srgbClr val="96ED89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 dirty="0"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61657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5" r:id="rId15"/>
    <p:sldLayoutId id="2147483666" r:id="rId16"/>
    <p:sldLayoutId id="214748366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SmartTrack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1488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BCCEE"/>
                </a:solidFill>
              </a:rPr>
              <a:t>Smart Security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BCCEE"/>
                </a:solidFill>
              </a:rPr>
              <a:t>Product &amp;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375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BBCCEE"/>
                </a:solidFill>
              </a:rPr>
              <a:t>Requirements Document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0"/>
            <a:ext cx="411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9AACC"/>
                </a:solidFill>
              </a:rPr>
              <a:t>Versi 0.3  ·  Juni 2026</a:t>
            </a:r>
          </a:p>
          <a:p>
            <a:r>
              <a:rPr sz="1000">
                <a:solidFill>
                  <a:srgbClr val="99AACC"/>
                </a:solidFill>
              </a:rPr>
              <a:t>OPTR · NTD Development</a:t>
            </a:r>
          </a:p>
          <a:p>
            <a:r>
              <a:rPr sz="1000">
                <a:solidFill>
                  <a:srgbClr val="99AACC"/>
                </a:solidFill>
              </a:rPr>
              <a:t>Sinarmas Agribusiness and Food</a:t>
            </a:r>
          </a:p>
          <a:p>
            <a:r>
              <a:rPr sz="1000">
                <a:solidFill>
                  <a:srgbClr val="99AACC"/>
                </a:solidFill>
              </a:rPr>
              <a:t>Status: Draft — Review Bisnis &amp;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640080"/>
            <a:ext cx="1060704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PRD / FSD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05156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Tujuan Dokumen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A2744"/>
                </a:solidFill>
              </a:rPr>
              <a:t>Dokumen ini menjadi acuan awal bagi tim IT dalam mengembangkan modul patroli berbasis GPS di Smart Security Dashboard.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Audiens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A2744"/>
                </a:solidFill>
              </a:rPr>
              <a:t>• Tim IT Development &amp; Arsitektur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A2744"/>
                </a:solidFill>
              </a:rPr>
              <a:t>• Operasional Keamanan Estate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A2744"/>
                </a:solidFill>
              </a:rPr>
              <a:t>• PIC &amp; Manajemen Keamanan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Cakupan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A2744"/>
                </a:solidFill>
              </a:rPr>
              <a:t>Data flow · Algoritma analisis · Spesifikasi UI Tinjau Laporan Patroli</a:t>
            </a:r>
          </a:p>
          <a:p>
            <a:pPr>
              <a:spcAft>
                <a:spcPts val="300"/>
              </a:spcAft>
            </a:pP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Di Luar Cakupan (v0.3)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A2744"/>
                </a:solidFill>
              </a:rPr>
              <a:t>SRMD Monitoring · Profiling · Modul Input Data (detail) · Role &amp; permission penuh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Ringkasan bab presentasi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484632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Konteks &amp; Latar Belakang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Ringkasan eksekutif &amp; masalah bisnis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Persona pengguna &amp; peran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Arsitektur sistem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143000"/>
            <a:ext cx="484632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490472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Data &amp; Integrasi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Alur data end-to-end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Window analisis &amp; fetch GPS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Master data &amp; klasifikasi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143000"/>
            <a:ext cx="484632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490472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Business Rules &amp; Algoritma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Exception report (berhenti, rute, kecepatan)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Metrik &amp; coverage blok rawan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Penentuan shift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143000"/>
            <a:ext cx="484632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490472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UI / UX Requirements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User journey PIC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Spesifikasi per halaman + mockup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Validasi submit &amp; workflow pasca-submit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143000"/>
            <a:ext cx="484632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1490472"/>
            <a:ext cx="2148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Lanjutan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Modul future scope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Pertanyaan terbuka untuk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Agenda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4060A0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Konteks &amp; 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BCCEE"/>
                </a:solidFill>
              </a:rPr>
              <a:t>Masalah bisnis, solusi, dan pengguna sistem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Konteks &amp; Latar Belakang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Ringkasan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SmartTrack — modul patroli dalam Smart Security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89611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Pelaporan patroli minim visibilitas: sulit verifikasi rute, durasi berhenti, cakupan blok rawan.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Data GPS belum terintegrasi ke proses review harian PIC &amp; manajemen.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Tidak ada deteksi otomatis anomaly (berhenti lama, keluar rute, speeding).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813816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Solusi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Platform terpusat: inventaris → jadwal rute → fetch GPS → analisis → review PIC.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Laporan terstruktur dengan exception report &amp; metrik kinerja per shift.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Workflow audit trail: PIC submit → Manajer review → RC (fase berikutnya).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130759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Nilai Bisnis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Akuntabilitas patroli di area berisiko tinggi.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Data-driven decision untuk alokasi tim &amp; perbaikan rute.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Standardisasi laporan across estate.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01 · Konteks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Persona &amp; Peran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Siapa yang berinteraksi dengan sistem dan apa tanggung jawabnya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801367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 / Input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Mengelola inventaris kendaraan &amp; IMEI GPS.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Mengatur rute bank, blok rawan, jadwal shift.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Plot rute ke kendaraan per tanggal (3–9 rute/hari).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566928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Meninjau laporan harian di Tinjau Laporan Patroli.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Memberi komentar wajib pada setiap exception.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Submit laporan + ringkasan &amp; rencana tindakan.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130759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Manajer &amp; 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Review laporan di Hasil Laporan Patroli.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Memberi komentar &amp; arahan tindak lanjut.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Menerima notifikasi khusus untuk laporan Urgent.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01 · Konteks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Empat lapisan yang saling berinteraksi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Komponen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Lapisan 1 — Master Data: inventaris, rute, blok rawan, jadwal.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Lapisan 2 — GPS: perangkat IMEI → server GPS eksternal (real-time).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Lapisan 3 — Engine Analisis: klasifikasi, deteksi event, statistik.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Lapisan 4 — Workflow: antrian PIC → submit → review manajemen.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Integrasi kunci: fetch harian dari server GPS eksternal ke Smart Security 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Diagram Arsitektur 4 Lapis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Sisipkan diagram: Master Data → GPS → Engine →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01 · Arsitektur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4060A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 &amp; Integrasi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BCCEE"/>
                </a:solidFill>
              </a:rPr>
              <a:t>Alur data, window waktu, master data, klasifikasi GPS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Data &amp; Integrasi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Alur Data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Dari input master data hingga laporan disubmit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Tahapan Proses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A. Admin input inventaris kendaraan + IMEI GPS.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B. Plot rute ke kendaraan per tanggal &amp; shift (1–3 rute/shift).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C. Patroli berjalan → GPS kirim data ke server eksternal.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D. Fetch jam 08:00 — data window 07:00 (D) s.d. 07:00 (D+1).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E. Klasifikasi tracking: Ada (≥1 km) / Tidak Ada (&lt;1 km).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F. Engine analisis → event &amp; statistik.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G. Laporan muncul di antrian Tinjau Laporan Patroli.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H. PIC review → submit → Hasil Laporan Patroli → Manajemen.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Diagram Alur Data A → H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Flowchart end-to-end — dapat digambar di Visio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02 · Data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Window Analisis vs Waktu Fetch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Dua konsep waktu yang sengaja dipisahkan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554479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Window Analisis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Satu hari patroli = 07:00 (D) → 07:00 (D+1).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Bukan kalender 00:00–23:59.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Contoh: laporan 14 Feb = data 14 Feb 07:00 – 15 Feb 07:00.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Tanggal laporan = hari D (awal window).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1225295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Waktu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Setiap pagi jam 08:00 dari server GPS.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Buffer 1 jam setelah window ditutup.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Alasan: hindari data pending dari Shift 3 (berakhir 07:00).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171907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Shift Operasional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1: 07:00 – 15:00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2: 15:00 – 23:00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3: 23:00 – 07:00 (lintas hari)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Pengecualian: 06:42–06:59 → berhenti tidak dianalisis.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02 · Waktu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Master Data — Input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Data yang harus tersedia sebelum patroli dianalisis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43000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Inventaris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Estate, tipe kendaraan (Mobil/Motor), plat nomor.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IMEI GPS terpasang, status kendaraan &amp; perangkat.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Relasi: 1 kendaraan ↔ 1 IMEI aktif per periode.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5103" y="1143000"/>
            <a:ext cx="1060704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Rute Bank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03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ID, nama rute, estate, geometri GeoJSON.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Panjang rute dihitung otomatis dari polyline.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143000"/>
            <a:ext cx="1636776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Penugasan Harian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287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Tanggal, kendaraan, shift, 1–3 rute per shift.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Total: 3–9 rute baseline per kendaraan per hari.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9471" y="1143000"/>
            <a:ext cx="1143000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Blok Rawan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71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Kode blok, estate, polygon GeoJSON.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Flag rawan / non-rawan.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02 · Master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Klasifikasi Ketersediaan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Keputusan pertama sebelum analisis dimulai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Business Rules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Hitung total jarak GPS dalam window 07:00–07:00.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Total &lt; 1 km → Tidak Tersedia → Trouble Report.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Total ≥ 1 km → Tersedia → Laporan Normal.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Tidak ada data sama sekali → Tidak Tersedia.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Catatan: meski Tersedia, PIC bisa tekan INTERVENSI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(contoh: motor rusak, GPS masih rekam ke bengkel).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Diagram Klasifikasi Laporan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Flowchart: GPS data → jarak? → Normal / Trouble / Intervensi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02 · Klasifikasi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4060A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Business Rules &amp; Algoritma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BCCEE"/>
                </a:solidFill>
              </a:rPr>
              <a:t>Logika deteksi event dan perhitungan metrik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Business Rules &amp; Algoritma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Parameter Sistem (Konfigurasi)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Nilai default — dapat disesuaikan per estate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636776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Waktu &amp;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Window harian: 07:00 – 07:00 (D+1)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Fetch: 08:00 harian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Threshold tidak ada tracking: 1 km/hari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Exclude berhenti: 06:42 – 06:59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1389888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Deteksi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Berhenti: radius 50 m, durasi 30 min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Kecepatan: &gt; 50 km/jam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Keluar rute: &gt; 1 km dari baseline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On-route buffer: 25 m (20 m jalan + 3–5 m GPS)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1143000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Blok Rawan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Min. jarak lewat blok: 600 m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Gap antar kunjungan: 23 menit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Min. kata ringkasan: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03 · Parameter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Exception: Berhenti &gt; 30 Menit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REQ-EXC-001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Detection Logic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Trigger: GPS tidak bergerak signifikan &gt; 30 menit, ATAU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tetap dalam radius ≤ 50 m dari satu titik &gt; 30 menit.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Output: waktu mulai/selesai, koordinat, blok terdekat, shift.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ditentukan dari waktu MULAI event.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Exclude: rentang 06:42–06:59 tidak dihitung.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PIC wajib komentar: Standby / Istirahat / Operasional / Lainnya.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Sub-kategori wajib untuk Standby (di Pos, Kantor, Workshop).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Enhancement: geofencing auto-reason (pondok, pos).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Exception Panel — Berhenti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accordion Berhenti expanded + dropdown komentar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03 · Berhenti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Exception: Keluar Rute per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REQ-EXC-002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Detection Logic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On-route: jarak ke polyline baseline ≤ 25 m.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Off-route: jarak ke titik terdekat rute &gt; 1 km (configurable).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Hanya hitung saat kendaraan bergerak (speed &gt; 0).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Minimal 5 titik GPS berurutan untuk 1 event.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Output: waktu mulai/kembali, track deviasi, total jarak, shift.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PIC komentar: Mendadak / Jalur / Operasional / Lainnya.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Sub wajib untuk Operasional (BBM, koordinasi, akses blok).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Exception Panel — Keluar Rute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accordion Keluar Rute + segment di peta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03 · Keluar Rute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Exception: Kecepatan &gt; 50 km/jam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REQ-EXC-003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Detection Logic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Hitung kecepatan antar 2 titik GPS berurutan.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Trigger: kecepatan &gt; 50 km/jam.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Akhiri grup setelah 2 titik berturut-turut ≤ 50 km/jam (anti-noise).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Output: waktu, kecepatan maks, total jarak, track, shift.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PIC komentar: Darurat / Operasional / Lainnya.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Sub wajib untuk Operasional (mengejar target, respon insiden).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Exception Panel — Kecepatan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accordion Kecepatan + track pink di peta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03 · Kecepatan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Metrik Analisis &amp;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Perhitungan yang mengisi panel Analisis Patroli &amp; Statistik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Donut Charts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Waktu bergerak vs berhenti (% durasi).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Coverage blok rawan vs non-rawan (% jarak).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Blok rawan dicek: belum / 1× / 2× / &gt;2×.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45103" y="1143000"/>
            <a:ext cx="1554479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Panel Statistik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5103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Jarak rute dijadwalkan vs jarak aktual.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Keluar rute (km) · Sesuai rute · Rute tercover · % cover.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143000"/>
            <a:ext cx="1883664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Blok Rawan — Aturan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7287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Kunjungan valid: jarak dalam blok ≥ 600 m.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Gap antar kunjungan sama: ≥ 23 menit.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Tabel per shift: waktu bergerak, kecepatan rata-rata, % cover.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29471" y="1143000"/>
            <a:ext cx="1060704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Kecepatan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471" y="1490472"/>
            <a:ext cx="2659303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Rata-rata, maksimal, minimal per shift &amp; per hari.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03 · Metrik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Penentuan Shift pada Exception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REQ-SHIFT-001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Business Rule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ditentukan dari WAKTU MULAI event — bukan selesai.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1: start 07:00 – 14:59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2: start 15:00 – 22:59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Shift 3: start 23:00 – 06:59 (D+1)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Contoh: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• Berhenti 14:55–15:27 → Shift 1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• Speeding 06:42–06:43 → Shift 3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• Keluar rute 00:07–00:11 → Shift 3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Visualisasi peta: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Track S1 merah · S2 biru · S3 cyan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Baseline: garis transparan per 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Peta — Warna per Shift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peta dengan legend shift +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03 ·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4060A0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UI / UX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BCCEE"/>
                </a:solidFill>
              </a:rPr>
              <a:t>Spesifikasi tampilan dan alur pengguna PIC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UI / UX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User Journey — 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Alur utama dari antrian hingga 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Flow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1. Buka Tinjau Laporan Patroli (antrian).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2. Lihat stat cards: belum ditinjau, pelacakan, tipe kendaraan.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3. Pilih baris laporan → cek ketersediaan tracking.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Jika Tidak Tersedia: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→ Form kendala (GPS rusak / kendaraan rusak) → Kirim.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Jika Tersedia: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→ Review peta + exception → komentar semua event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→ Isi ringkasan &amp; rencana tindakan (min. 10 kata)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→ Set prioritas Normal/Urgent → KIRIM.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Opsi INTERVENSI kapan saja dari laporan normal.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User Journey Diagram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Flowchart: Antrian → Normal/Trouble → Submit → Hasil Laporan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UI-001: Halaman Indeks — Tinjau Laporan Patroli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Antrian laporan belum disubmit oleh 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489204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30861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Halaman Indeks /review-patrol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Stat cards (belum ditinjau · pelacakan · kendaraan) + tabel 7 kolom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UI Indeks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UI-002: Form Laporan Kendala (Trouble Report)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Ditampilkan saat tracking Tidak Tersedia atau PIC menekan INTERVENSI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Requirements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Metadata: Estate · Tipe kendaraan · Plat · Tanggal.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Form: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• Jenis kerusakan (radio): Motor/Unit Rusak ATAU GPS/WiFi Rusak.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• Keterangan (textarea, wajib).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Aksi: Batal | Kirim Laporan.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Tidak perlu: exception comment, analisis, ringkasan 10 kata.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Setelah kirim: laporan keluar dari antrian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Form Laporan Kendala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/review-patrol/[id]/kendala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UI Kendala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UI-003: Laporan Hasil Patroli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Halaman review utama saat tracking Tersedia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489204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30861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Laporan Hasil Patroli /review-patrol/[id]/hasil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Header (metadata + INTERVENSI + KIRIM + prioritas) + peta + exception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UI Hasil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UI-004: Peta Interaktif &amp; Playback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REQ-UI-MAP-001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Map Requirements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Default load: polygon blok estate + highlight blok rawan (merah).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Layer baseline rute per shift (transparan, tebal).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Layer track aktual GPS per shift (solid, warna shift).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Marker event: berhenti (oranye), keluar rute, speeding (pink).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Event dikomentari → marker hijau.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Playback: Play · Pause · Resume · progress bar 0–100%.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Animasi pergerakan kendaraan sepanjang track.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Klik event di panel → fokus ke lokasi di peta.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Peta + Playback Controls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peta dengan legend + playback bar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UI Peta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UI-005: Analisis Patroli &amp; Statistik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Panel bawah halaman review — donut charts + metrik jarak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85855" cy="489204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30861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Analisis Patroli + Statistik + Tabel per Shift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3 donut charts · 6 baris statistik · tabel 3 shift dengan % cover berwarna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UI Analisis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UI-006: Penugasan Tim &amp; Ringkasan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REQ-UI-FORM-001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07592" cy="256032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sz="1200">
                <a:solidFill>
                  <a:srgbClr val="002060"/>
                </a:solidFill>
              </a:rPr>
              <a:t>Form Requirements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Penugasan tim (grid 3×3 dropdown):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Manajer (pre-filled, locked) · Kanitpam · PIC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Danru Shift 1–3 · Anggota Shift 1–3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Ringkasan Patroli (textarea, wajib, min. 10 kata).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Rencana Tindakan (textarea, wajib, min. 10 kata).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View-only setelah submit (kecuali komentar Manajer).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43000"/>
            <a:ext cx="1554479" cy="256032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DESIGN / MOCKUP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5562295" cy="4846320"/>
          </a:xfrm>
          <a:prstGeom prst="rect">
            <a:avLst/>
          </a:prstGeom>
          <a:solidFill>
            <a:srgbClr val="E8ECF4"/>
          </a:solidFill>
          <a:ln w="19050">
            <a:solidFill>
              <a:srgbClr val="BDC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1627" y="33832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C6B88"/>
                </a:solidFill>
              </a:rPr>
              <a:t>[ INSERT SCREENSHOT ]</a:t>
            </a:r>
          </a:p>
          <a:p>
            <a:pPr algn="ctr"/>
            <a:r>
              <a:rPr sz="1000">
                <a:solidFill>
                  <a:srgbClr val="1565D8"/>
                </a:solidFill>
              </a:rPr>
              <a:t>Form Penugasan + Ringkasan</a:t>
            </a:r>
          </a:p>
          <a:p>
            <a:pPr algn="ctr"/>
            <a:r>
              <a:rPr sz="900">
                <a:solidFill>
                  <a:srgbClr val="5C6B88"/>
                </a:solidFill>
              </a:rPr>
              <a:t>Screenshot: bagian bawah halaman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UI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Validasi Submit &amp; Pasca-Submit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Kondisi tombol KIRIM aktif dan alur setelah submit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389888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Syarat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✓ Semua exception dikomentari (berhenti, rute, kecepatan).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✓ Ringkasan patroli ≥ 10 kata.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✓ Rencana tindakan ≥ 10 kata.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✓ Penugasan tim terisi (PIC minimal — TBD).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✓ Prioritas dipilih: Normal / Urgent.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1472184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Setelah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Laporan pindah ke Hasil Laporan Patroli.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Hilang dari antrian Tinjau Laporan Patroli.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Normal → notifikasi Manajer.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Urgent → notifikasi Manajer + Manajemen.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1554479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Review Lanjutan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Manajer: komentar di laporan disubmit.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RC: kolom komentar (fase berikutnya).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04 · 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4060A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834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Future Scope &amp; Open Items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BBCCEE"/>
                </a:solidFill>
              </a:rPr>
              <a:t>Modul lanjutan dan pertanyaan untuk tim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Future Scope &amp; Open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Modul di Luar Cakupan v0.3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Akan didokumentasikan setelah mockup tersedia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60704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SRMD Monitoring — mockup static SPA tersedia.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Profiling — overview man power &amp; infrastruktur.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2295144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Input Data (6 sub-modul)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Tag Rute · GPS &amp; Kendaraan · Anggota Tim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Blok Rawan · Rute Bank · Jadwal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89611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Laporan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Hasil Laporan Patroli — indeks + detail view-only.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Komentar Manajer &amp; RC.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05 · 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Pertanyaan Terbuka untuk Tim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BCCEE"/>
                </a:solidFill>
              </a:rPr>
              <a:t>Keputusan yang memerlukan konfirmasi sebelum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60704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Integrasi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Platform &amp; protokol server GPS eksternal?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PostGIS vs GeoJSON untuk penyimpanan geometri?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Retensi data GPS mentah?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2498" y="1143000"/>
            <a:ext cx="978407" cy="256032"/>
          </a:xfrm>
          <a:prstGeom prst="roundRect">
            <a:avLst/>
          </a:prstGeom>
          <a:solidFill>
            <a:srgbClr val="156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2498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Field penugasan tim mana yang wajib sebelum submit?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Mekanisme notifikasi Urgent (push / email / WA)?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Apakah trouble report perlu approval manajer?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2076" y="1143000"/>
            <a:ext cx="896112" cy="256032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Dokumen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1490472"/>
            <a:ext cx="360669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Referensi lengkap: DOKUMENTASI-SMARTTRACK-v0.3.docx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1A2744"/>
                </a:solidFill>
              </a:rPr>
              <a:t>Mockup UI: environment dev /review-patrol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05 · Open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566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BCCEE"/>
                </a:solidFill>
              </a:rPr>
              <a:t>SmartTrack · Smart Security Dashboard  |  Dokumen lengkap: DOKUMENTASI-SMARTTRACK-v0.3.docx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SmartTrack · Smart Security Dashboard  |  Draft v0.3  | 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51967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B88"/>
                </a:solidFill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CD6C8"/>
      </a:accent1>
      <a:accent2>
        <a:srgbClr val="383735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template">
      <a:majorFont>
        <a:latin typeface="Poppins 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BBCAFC4625794AAB5A68F77B27399A" ma:contentTypeVersion="3" ma:contentTypeDescription="Create a new document." ma:contentTypeScope="" ma:versionID="5ba47a518222dde8981e5dda311eec7f">
  <xsd:schema xmlns:xsd="http://www.w3.org/2001/XMLSchema" xmlns:xs="http://www.w3.org/2001/XMLSchema" xmlns:p="http://schemas.microsoft.com/office/2006/metadata/properties" xmlns:ns2="5a05a58c-cc93-45c1-8881-853f5abc1dda" targetNamespace="http://schemas.microsoft.com/office/2006/metadata/properties" ma:root="true" ma:fieldsID="ef33e494167af7193cff70ecd75a778b" ns2:_="">
    <xsd:import namespace="5a05a58c-cc93-45c1-8881-853f5abc1d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05a58c-cc93-45c1-8881-853f5abc1d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48D418-0402-4907-87A9-C70C132403C5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5a05a58c-cc93-45c1-8881-853f5abc1dda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CFB616-E571-45DF-912A-A38EBDFD6B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a05a58c-cc93-45c1-8881-853f5abc1d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1F3F6D6-1F4D-46D6-BCA2-C597FFFCDF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49935</TotalTime>
  <Words>179</Words>
  <Application>Microsoft Macintosh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Tahoma</vt:lpstr>
      <vt:lpstr>Poppins</vt:lpstr>
      <vt:lpstr>Arial</vt:lpstr>
      <vt:lpstr>Josefin Sans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阿法ㄧ</cp:lastModifiedBy>
  <cp:revision>288</cp:revision>
  <dcterms:created xsi:type="dcterms:W3CDTF">2024-11-07T05:05:52Z</dcterms:created>
  <dcterms:modified xsi:type="dcterms:W3CDTF">2026-06-12T01:48:22Z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0x010100C4BBCAFC4625794AAB5A68F77B27399A</vt:lpwstr>
  </property>
</Properties>
</file>